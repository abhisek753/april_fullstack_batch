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9EDF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1405269" y="8282709"/>
            <a:ext cx="6438717" cy="1384324"/>
          </a:xfrm>
          <a:custGeom>
            <a:avLst/>
            <a:gdLst/>
            <a:ahLst/>
            <a:cxnLst/>
            <a:rect r="r" b="b" t="t" l="l"/>
            <a:pathLst>
              <a:path h="1384324" w="6438717">
                <a:moveTo>
                  <a:pt x="0" y="0"/>
                </a:moveTo>
                <a:lnTo>
                  <a:pt x="6438717" y="0"/>
                </a:lnTo>
                <a:lnTo>
                  <a:pt x="6438717" y="1384325"/>
                </a:lnTo>
                <a:lnTo>
                  <a:pt x="0" y="1384325"/>
                </a:lnTo>
                <a:lnTo>
                  <a:pt x="0" y="0"/>
                </a:lnTo>
                <a:close/>
              </a:path>
            </a:pathLst>
          </a:custGeom>
          <a:blipFill>
            <a:blip r:embed="rId2"/>
            <a:stretch>
              <a:fillRect l="0" t="0" r="0" b="0"/>
            </a:stretch>
          </a:blipFill>
        </p:spPr>
      </p:sp>
      <p:sp>
        <p:nvSpPr>
          <p:cNvPr name="Freeform 6" id="6"/>
          <p:cNvSpPr/>
          <p:nvPr/>
        </p:nvSpPr>
        <p:spPr>
          <a:xfrm flipH="false" flipV="false" rot="0">
            <a:off x="12765014" y="4124672"/>
            <a:ext cx="5795818" cy="5795818"/>
          </a:xfrm>
          <a:custGeom>
            <a:avLst/>
            <a:gdLst/>
            <a:ahLst/>
            <a:cxnLst/>
            <a:rect r="r" b="b" t="t" l="l"/>
            <a:pathLst>
              <a:path h="5795818" w="5795818">
                <a:moveTo>
                  <a:pt x="0" y="0"/>
                </a:moveTo>
                <a:lnTo>
                  <a:pt x="5795819" y="0"/>
                </a:lnTo>
                <a:lnTo>
                  <a:pt x="5795819" y="5795818"/>
                </a:lnTo>
                <a:lnTo>
                  <a:pt x="0" y="57958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624627" y="2534090"/>
            <a:ext cx="2076592" cy="2607965"/>
          </a:xfrm>
          <a:custGeom>
            <a:avLst/>
            <a:gdLst/>
            <a:ahLst/>
            <a:cxnLst/>
            <a:rect r="r" b="b" t="t" l="l"/>
            <a:pathLst>
              <a:path h="2607965" w="2076592">
                <a:moveTo>
                  <a:pt x="0" y="0"/>
                </a:moveTo>
                <a:lnTo>
                  <a:pt x="2076593" y="0"/>
                </a:lnTo>
                <a:lnTo>
                  <a:pt x="2076593" y="2607965"/>
                </a:lnTo>
                <a:lnTo>
                  <a:pt x="0" y="2607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526630"/>
            <a:ext cx="6438717" cy="1384324"/>
          </a:xfrm>
          <a:custGeom>
            <a:avLst/>
            <a:gdLst/>
            <a:ahLst/>
            <a:cxnLst/>
            <a:rect r="r" b="b" t="t" l="l"/>
            <a:pathLst>
              <a:path h="1384324" w="6438717">
                <a:moveTo>
                  <a:pt x="0" y="0"/>
                </a:moveTo>
                <a:lnTo>
                  <a:pt x="6438717" y="0"/>
                </a:lnTo>
                <a:lnTo>
                  <a:pt x="6438717" y="1384324"/>
                </a:lnTo>
                <a:lnTo>
                  <a:pt x="0" y="1384324"/>
                </a:lnTo>
                <a:lnTo>
                  <a:pt x="0" y="0"/>
                </a:lnTo>
                <a:close/>
              </a:path>
            </a:pathLst>
          </a:custGeom>
          <a:blipFill>
            <a:blip r:embed="rId2"/>
            <a:stretch>
              <a:fillRect l="0" t="0" r="0" b="0"/>
            </a:stretch>
          </a:blipFill>
        </p:spPr>
      </p:sp>
      <p:sp>
        <p:nvSpPr>
          <p:cNvPr name="TextBox 9" id="9"/>
          <p:cNvSpPr txBox="true"/>
          <p:nvPr/>
        </p:nvSpPr>
        <p:spPr>
          <a:xfrm rot="0">
            <a:off x="1877111" y="1842539"/>
            <a:ext cx="12534856" cy="7354570"/>
          </a:xfrm>
          <a:prstGeom prst="rect">
            <a:avLst/>
          </a:prstGeom>
        </p:spPr>
        <p:txBody>
          <a:bodyPr anchor="t" rtlCol="false" tIns="0" lIns="0" bIns="0" rIns="0">
            <a:spAutoFit/>
          </a:bodyPr>
          <a:lstStyle/>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Border</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Combinators</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Z-index</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Difference between rem &amp; em unit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Box modal</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Display Flex</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Transition</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Display Grid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028700" y="1117649"/>
            <a:ext cx="771989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Q. What is Combinators </a:t>
            </a:r>
          </a:p>
        </p:txBody>
      </p:sp>
      <p:sp>
        <p:nvSpPr>
          <p:cNvPr name="TextBox 3" id="3"/>
          <p:cNvSpPr txBox="true"/>
          <p:nvPr/>
        </p:nvSpPr>
        <p:spPr>
          <a:xfrm rot="0">
            <a:off x="1028700" y="3147085"/>
            <a:ext cx="15947799" cy="45827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Combinators in CSS are used to select elements based on their relationship with other elements in the DOM (Document Object Model). They allow you to target elements in a specific hierarchy or structure.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028700" y="2702160"/>
            <a:ext cx="12304776" cy="3658870"/>
          </a:xfrm>
          <a:prstGeom prst="rect">
            <a:avLst/>
          </a:prstGeom>
        </p:spPr>
        <p:txBody>
          <a:bodyPr anchor="t" rtlCol="false" tIns="0" lIns="0" bIns="0" rIns="0">
            <a:spAutoFit/>
          </a:bodyPr>
          <a:lstStyle/>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Descendant Combinator</a:t>
            </a:r>
          </a:p>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Child Combinator (&gt;)</a:t>
            </a:r>
          </a:p>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Adjacent Sibling Combinator (+)</a:t>
            </a:r>
          </a:p>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General Sibling Combinator (~)</a:t>
            </a:r>
          </a:p>
        </p:txBody>
      </p:sp>
      <p:sp>
        <p:nvSpPr>
          <p:cNvPr name="TextBox 3" id="3"/>
          <p:cNvSpPr txBox="true"/>
          <p:nvPr/>
        </p:nvSpPr>
        <p:spPr>
          <a:xfrm rot="0">
            <a:off x="1514475" y="1093272"/>
            <a:ext cx="709112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Types of Combinators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267609" y="1556437"/>
            <a:ext cx="14095140" cy="55067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Descen</a:t>
            </a:r>
            <a:r>
              <a:rPr lang="en-US" sz="5199" b="true">
                <a:solidFill>
                  <a:srgbClr val="000000"/>
                </a:solidFill>
                <a:latin typeface="Canva Sans Bold"/>
                <a:ea typeface="Canva Sans Bold"/>
                <a:cs typeface="Canva Sans Bold"/>
                <a:sym typeface="Canva Sans Bold"/>
              </a:rPr>
              <a:t>dant Combinator (' ')</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Selects elements that are nested within a specific parent.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Example: Select all &lt;p&gt; elements inside a .container.</a:t>
            </a:r>
          </a:p>
          <a:p>
            <a:pPr algn="l">
              <a:lnSpc>
                <a:spcPts val="7279"/>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267609" y="1556437"/>
            <a:ext cx="14095140" cy="64306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Child Combinator (&gt;)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Selects direct child elements of a specific parent.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Example: Select all &lt;p&gt; elements that are direct children of .container.</a:t>
            </a:r>
          </a:p>
          <a:p>
            <a:pPr algn="l">
              <a:lnSpc>
                <a:spcPts val="7279"/>
              </a:lnSpc>
            </a:pPr>
          </a:p>
          <a:p>
            <a:pPr algn="l">
              <a:lnSpc>
                <a:spcPts val="7279"/>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267609" y="1556437"/>
            <a:ext cx="14095140" cy="55067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Adjacent Sibling Combinator (+)</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Selects an element that is immediately preceded by a specific element.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Example: Select the &lt;p&gt; that immediately follows a &lt;h1&gt;.</a:t>
            </a:r>
          </a:p>
          <a:p>
            <a:pPr algn="l">
              <a:lnSpc>
                <a:spcPts val="7279"/>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028700" y="1458928"/>
            <a:ext cx="15801537" cy="5506720"/>
          </a:xfrm>
          <a:prstGeom prst="rect">
            <a:avLst/>
          </a:prstGeom>
        </p:spPr>
        <p:txBody>
          <a:bodyPr anchor="t" rtlCol="false" tIns="0" lIns="0" bIns="0" rIns="0">
            <a:spAutoFit/>
          </a:bodyPr>
          <a:lstStyle/>
          <a:p>
            <a:pPr algn="just">
              <a:lnSpc>
                <a:spcPts val="7279"/>
              </a:lnSpc>
            </a:pPr>
            <a:r>
              <a:rPr lang="en-US" sz="5199" b="true">
                <a:solidFill>
                  <a:srgbClr val="000000"/>
                </a:solidFill>
                <a:latin typeface="Canva Sans Bold"/>
                <a:ea typeface="Canva Sans Bold"/>
                <a:cs typeface="Canva Sans Bold"/>
                <a:sym typeface="Canva Sans Bold"/>
              </a:rPr>
              <a:t>General Sibling Combinator (~)</a:t>
            </a:r>
          </a:p>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Selects</a:t>
            </a:r>
            <a:r>
              <a:rPr lang="en-US" b="true" sz="5199">
                <a:solidFill>
                  <a:srgbClr val="000000"/>
                </a:solidFill>
                <a:latin typeface="Canva Sans Bold"/>
                <a:ea typeface="Canva Sans Bold"/>
                <a:cs typeface="Canva Sans Bold"/>
                <a:sym typeface="Canva Sans Bold"/>
              </a:rPr>
              <a:t> all elements that are siblings of a specific element.</a:t>
            </a:r>
          </a:p>
          <a:p>
            <a:pPr algn="just"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Example: Select all &lt;p&gt; elements that follow any &lt;h1&gt;.</a:t>
            </a:r>
          </a:p>
          <a:p>
            <a:pPr algn="just">
              <a:lnSpc>
                <a:spcPts val="7279"/>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028700" y="2827655"/>
            <a:ext cx="15752782" cy="6430645"/>
          </a:xfrm>
          <a:prstGeom prst="rect">
            <a:avLst/>
          </a:prstGeom>
        </p:spPr>
        <p:txBody>
          <a:bodyPr anchor="t" rtlCol="false" tIns="0" lIns="0" bIns="0" rIns="0">
            <a:spAutoFit/>
          </a:bodyPr>
          <a:lstStyle/>
          <a:p>
            <a:pPr algn="l">
              <a:lnSpc>
                <a:spcPts val="7279"/>
              </a:lnSpc>
            </a:pPr>
          </a:p>
          <a:p>
            <a:pPr algn="l">
              <a:lnSpc>
                <a:spcPts val="7279"/>
              </a:lnSpc>
            </a:pPr>
            <a:r>
              <a:rPr lang="en-US" sz="5199" b="true">
                <a:solidFill>
                  <a:srgbClr val="000000"/>
                </a:solidFill>
                <a:latin typeface="Canva Sans Bold"/>
                <a:ea typeface="Canva Sans Bold"/>
                <a:cs typeface="Canva Sans Bold"/>
                <a:sym typeface="Canva Sans Bold"/>
              </a:rPr>
              <a:t>The position property in CSS defines how an element is placed in the document. It determines whether the element follows the normal document flow or is positioned relative to other elements.</a:t>
            </a:r>
          </a:p>
          <a:p>
            <a:pPr algn="l">
              <a:lnSpc>
                <a:spcPts val="7279"/>
              </a:lnSpc>
            </a:pPr>
          </a:p>
        </p:txBody>
      </p:sp>
      <p:sp>
        <p:nvSpPr>
          <p:cNvPr name="TextBox 3" id="3"/>
          <p:cNvSpPr txBox="true"/>
          <p:nvPr/>
        </p:nvSpPr>
        <p:spPr>
          <a:xfrm rot="0">
            <a:off x="4520592" y="933450"/>
            <a:ext cx="7881700"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Position Property in CSS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736175" y="981075"/>
            <a:ext cx="15159956" cy="8721332"/>
          </a:xfrm>
          <a:prstGeom prst="rect">
            <a:avLst/>
          </a:prstGeom>
        </p:spPr>
        <p:txBody>
          <a:bodyPr anchor="t" rtlCol="false" tIns="0" lIns="0" bIns="0" rIns="0">
            <a:spAutoFit/>
          </a:bodyPr>
          <a:lstStyle/>
          <a:p>
            <a:pPr algn="l">
              <a:lnSpc>
                <a:spcPts val="3871"/>
              </a:lnSpc>
            </a:pPr>
            <a:r>
              <a:rPr lang="en-US" sz="2765" b="true">
                <a:solidFill>
                  <a:srgbClr val="000000"/>
                </a:solidFill>
                <a:latin typeface="Canva Sans Bold"/>
                <a:ea typeface="Canva Sans Bold"/>
                <a:cs typeface="Canva Sans Bold"/>
                <a:sym typeface="Canva Sans Bold"/>
              </a:rPr>
              <a:t>Static (Default)</a:t>
            </a:r>
          </a:p>
          <a:p>
            <a:pPr algn="l" marL="597064" indent="-298532" lvl="1">
              <a:lnSpc>
                <a:spcPts val="3871"/>
              </a:lnSpc>
              <a:buFont typeface="Arial"/>
              <a:buChar char="•"/>
            </a:pPr>
            <a:r>
              <a:rPr lang="en-US" sz="2765">
                <a:solidFill>
                  <a:srgbClr val="000000"/>
                </a:solidFill>
                <a:latin typeface="Canva Sans"/>
                <a:ea typeface="Canva Sans"/>
                <a:cs typeface="Canva Sans"/>
                <a:sym typeface="Canva Sans"/>
              </a:rPr>
              <a:t>    </a:t>
            </a:r>
            <a:r>
              <a:rPr lang="en-US" b="true" sz="2765">
                <a:solidFill>
                  <a:srgbClr val="000000"/>
                </a:solidFill>
                <a:latin typeface="Canva Sans Bold"/>
                <a:ea typeface="Canva Sans Bold"/>
                <a:cs typeface="Canva Sans Bold"/>
                <a:sym typeface="Canva Sans Bold"/>
              </a:rPr>
              <a:t>The default position; elements are placed in the normal document flow.</a:t>
            </a:r>
          </a:p>
          <a:p>
            <a:pPr algn="l">
              <a:lnSpc>
                <a:spcPts val="3871"/>
              </a:lnSpc>
            </a:pPr>
          </a:p>
          <a:p>
            <a:pPr algn="l">
              <a:lnSpc>
                <a:spcPts val="3871"/>
              </a:lnSpc>
            </a:pPr>
            <a:r>
              <a:rPr lang="en-US" sz="2765" b="true">
                <a:solidFill>
                  <a:srgbClr val="000000"/>
                </a:solidFill>
                <a:latin typeface="Canva Sans Bold"/>
                <a:ea typeface="Canva Sans Bold"/>
                <a:cs typeface="Canva Sans Bold"/>
                <a:sym typeface="Canva Sans Bold"/>
              </a:rPr>
              <a:t>Relative</a:t>
            </a:r>
          </a:p>
          <a:p>
            <a:pPr algn="l" marL="597064" indent="-298532" lvl="1">
              <a:lnSpc>
                <a:spcPts val="3871"/>
              </a:lnSpc>
              <a:buFont typeface="Arial"/>
              <a:buChar char="•"/>
            </a:pPr>
            <a:r>
              <a:rPr lang="en-US" b="true" sz="2765">
                <a:solidFill>
                  <a:srgbClr val="000000"/>
                </a:solidFill>
                <a:latin typeface="Canva Sans Bold"/>
                <a:ea typeface="Canva Sans Bold"/>
                <a:cs typeface="Canva Sans Bold"/>
                <a:sym typeface="Canva Sans Bold"/>
              </a:rPr>
              <a:t>The element is positioned relative to its normal position.</a:t>
            </a:r>
          </a:p>
          <a:p>
            <a:pPr algn="l">
              <a:lnSpc>
                <a:spcPts val="3871"/>
              </a:lnSpc>
            </a:pPr>
          </a:p>
          <a:p>
            <a:pPr algn="l">
              <a:lnSpc>
                <a:spcPts val="3871"/>
              </a:lnSpc>
            </a:pPr>
            <a:r>
              <a:rPr lang="en-US" sz="2765" b="true">
                <a:solidFill>
                  <a:srgbClr val="000000"/>
                </a:solidFill>
                <a:latin typeface="Canva Sans Bold"/>
                <a:ea typeface="Canva Sans Bold"/>
                <a:cs typeface="Canva Sans Bold"/>
                <a:sym typeface="Canva Sans Bold"/>
              </a:rPr>
              <a:t>Absolute</a:t>
            </a:r>
          </a:p>
          <a:p>
            <a:pPr algn="l" marL="597064" indent="-298532" lvl="1">
              <a:lnSpc>
                <a:spcPts val="3871"/>
              </a:lnSpc>
              <a:buFont typeface="Arial"/>
              <a:buChar char="•"/>
            </a:pPr>
            <a:r>
              <a:rPr lang="en-US" sz="2765">
                <a:solidFill>
                  <a:srgbClr val="000000"/>
                </a:solidFill>
                <a:latin typeface="Canva Sans"/>
                <a:ea typeface="Canva Sans"/>
                <a:cs typeface="Canva Sans"/>
                <a:sym typeface="Canva Sans"/>
              </a:rPr>
              <a:t>   </a:t>
            </a:r>
            <a:r>
              <a:rPr lang="en-US" b="true" sz="2765">
                <a:solidFill>
                  <a:srgbClr val="000000"/>
                </a:solidFill>
                <a:latin typeface="Canva Sans Bold"/>
                <a:ea typeface="Canva Sans Bold"/>
                <a:cs typeface="Canva Sans Bold"/>
                <a:sym typeface="Canva Sans Bold"/>
              </a:rPr>
              <a:t>The element is positioned relative to its nearest positioned (non-static) ancestor.</a:t>
            </a:r>
          </a:p>
          <a:p>
            <a:pPr algn="l" marL="597064" indent="-298532" lvl="1">
              <a:lnSpc>
                <a:spcPts val="3871"/>
              </a:lnSpc>
              <a:buFont typeface="Arial"/>
              <a:buChar char="•"/>
            </a:pPr>
            <a:r>
              <a:rPr lang="en-US" b="true" sz="2765">
                <a:solidFill>
                  <a:srgbClr val="000000"/>
                </a:solidFill>
                <a:latin typeface="Canva Sans Bold"/>
                <a:ea typeface="Canva Sans Bold"/>
                <a:cs typeface="Canva Sans Bold"/>
                <a:sym typeface="Canva Sans Bold"/>
              </a:rPr>
              <a:t>If no ancestor has position: relative, it positions itself relative to the &lt;html&gt; element.</a:t>
            </a:r>
          </a:p>
          <a:p>
            <a:pPr algn="l">
              <a:lnSpc>
                <a:spcPts val="3871"/>
              </a:lnSpc>
            </a:pPr>
          </a:p>
          <a:p>
            <a:pPr algn="l">
              <a:lnSpc>
                <a:spcPts val="3871"/>
              </a:lnSpc>
            </a:pPr>
            <a:r>
              <a:rPr lang="en-US" sz="2765" b="true">
                <a:solidFill>
                  <a:srgbClr val="000000"/>
                </a:solidFill>
                <a:latin typeface="Canva Sans Bold"/>
                <a:ea typeface="Canva Sans Bold"/>
                <a:cs typeface="Canva Sans Bold"/>
                <a:sym typeface="Canva Sans Bold"/>
              </a:rPr>
              <a:t>Fixed</a:t>
            </a:r>
          </a:p>
          <a:p>
            <a:pPr algn="l" marL="597064" indent="-298532" lvl="1">
              <a:lnSpc>
                <a:spcPts val="3871"/>
              </a:lnSpc>
              <a:buFont typeface="Arial"/>
              <a:buChar char="•"/>
            </a:pPr>
            <a:r>
              <a:rPr lang="en-US" b="true" sz="2765">
                <a:solidFill>
                  <a:srgbClr val="000000"/>
                </a:solidFill>
                <a:latin typeface="Canva Sans Bold"/>
                <a:ea typeface="Canva Sans Bold"/>
                <a:cs typeface="Canva Sans Bold"/>
                <a:sym typeface="Canva Sans Bold"/>
              </a:rPr>
              <a:t>The element is positioned relative to the browser window and does not move when scrolling.</a:t>
            </a:r>
          </a:p>
          <a:p>
            <a:pPr algn="l">
              <a:lnSpc>
                <a:spcPts val="3871"/>
              </a:lnSpc>
            </a:pPr>
          </a:p>
          <a:p>
            <a:pPr algn="l">
              <a:lnSpc>
                <a:spcPts val="3871"/>
              </a:lnSpc>
            </a:pPr>
            <a:r>
              <a:rPr lang="en-US" sz="2765" b="true">
                <a:solidFill>
                  <a:srgbClr val="000000"/>
                </a:solidFill>
                <a:latin typeface="Canva Sans Bold"/>
                <a:ea typeface="Canva Sans Bold"/>
                <a:cs typeface="Canva Sans Bold"/>
                <a:sym typeface="Canva Sans Bold"/>
              </a:rPr>
              <a:t>Sticky</a:t>
            </a:r>
          </a:p>
          <a:p>
            <a:pPr algn="l" marL="597064" indent="-298532" lvl="1">
              <a:lnSpc>
                <a:spcPts val="3871"/>
              </a:lnSpc>
              <a:buFont typeface="Arial"/>
              <a:buChar char="•"/>
            </a:pPr>
            <a:r>
              <a:rPr lang="en-US" b="true" sz="2765">
                <a:solidFill>
                  <a:srgbClr val="000000"/>
                </a:solidFill>
                <a:latin typeface="Canva Sans Bold"/>
                <a:ea typeface="Canva Sans Bold"/>
                <a:cs typeface="Canva Sans Bold"/>
                <a:sym typeface="Canva Sans Bold"/>
              </a:rPr>
              <a:t>The element acts like relative until the page is scrolled to a certain point, then it behaves like fixed.</a:t>
            </a:r>
          </a:p>
          <a:p>
            <a:pPr algn="l">
              <a:lnSpc>
                <a:spcPts val="3871"/>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775205" y="3189702"/>
            <a:ext cx="16484095" cy="5506720"/>
          </a:xfrm>
          <a:prstGeom prst="rect">
            <a:avLst/>
          </a:prstGeom>
        </p:spPr>
        <p:txBody>
          <a:bodyPr anchor="t" rtlCol="false" tIns="0" lIns="0" bIns="0" rIns="0">
            <a:spAutoFit/>
          </a:bodyPr>
          <a:lstStyle/>
          <a:p>
            <a:pPr algn="l">
              <a:lnSpc>
                <a:spcPts val="7279"/>
              </a:lnSpc>
            </a:pPr>
          </a:p>
          <a:p>
            <a:pPr algn="l">
              <a:lnSpc>
                <a:spcPts val="7279"/>
              </a:lnSpc>
            </a:pPr>
            <a:r>
              <a:rPr lang="en-US" sz="5199" b="true">
                <a:solidFill>
                  <a:srgbClr val="000000"/>
                </a:solidFill>
                <a:latin typeface="Canva Sans Bold"/>
                <a:ea typeface="Canva Sans Bold"/>
                <a:cs typeface="Canva Sans Bold"/>
                <a:sym typeface="Canva Sans Bold"/>
              </a:rPr>
              <a:t>The display: flex; property is used to create a flexible layout where child elements (flex items) can be aligned, spaced, and resized efficiently within a parent container.</a:t>
            </a:r>
          </a:p>
          <a:p>
            <a:pPr algn="l">
              <a:lnSpc>
                <a:spcPts val="7279"/>
              </a:lnSpc>
            </a:pPr>
          </a:p>
        </p:txBody>
      </p:sp>
      <p:sp>
        <p:nvSpPr>
          <p:cNvPr name="TextBox 3" id="3"/>
          <p:cNvSpPr txBox="true"/>
          <p:nvPr/>
        </p:nvSpPr>
        <p:spPr>
          <a:xfrm rot="0">
            <a:off x="3692739" y="751993"/>
            <a:ext cx="861107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Display: Flex (CSS Flexbox)</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1028700" y="1803814"/>
            <a:ext cx="11621215" cy="5506720"/>
          </a:xfrm>
          <a:prstGeom prst="rect">
            <a:avLst/>
          </a:prstGeom>
        </p:spPr>
        <p:txBody>
          <a:bodyPr anchor="t" rtlCol="false" tIns="0" lIns="0" bIns="0" rIns="0">
            <a:spAutoFit/>
          </a:bodyPr>
          <a:lstStyle/>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Flex Direction (flex-direction)</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Justify Content (justify-content)</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Align Items (align-items)</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 Flex Wrap (flex-wraap)</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flex-grow (Expands Item)</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flex-shrink</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414411" y="952500"/>
            <a:ext cx="17873589" cy="7338319"/>
          </a:xfrm>
          <a:prstGeom prst="rect">
            <a:avLst/>
          </a:prstGeom>
        </p:spPr>
        <p:txBody>
          <a:bodyPr anchor="t" rtlCol="false" tIns="0" lIns="0" bIns="0" rIns="0">
            <a:spAutoFit/>
          </a:bodyPr>
          <a:lstStyle/>
          <a:p>
            <a:pPr algn="l">
              <a:lnSpc>
                <a:spcPts val="5861"/>
              </a:lnSpc>
            </a:pPr>
            <a:r>
              <a:rPr lang="en-US" sz="4186" b="true">
                <a:solidFill>
                  <a:srgbClr val="000000"/>
                </a:solidFill>
                <a:latin typeface="Canva Sans Bold"/>
                <a:ea typeface="Canva Sans Bold"/>
                <a:cs typeface="Canva Sans Bold"/>
                <a:sym typeface="Canva Sans Bold"/>
              </a:rPr>
              <a:t>Box Model in CSS</a:t>
            </a:r>
          </a:p>
          <a:p>
            <a:pPr algn="l">
              <a:lnSpc>
                <a:spcPts val="5861"/>
              </a:lnSpc>
            </a:pPr>
          </a:p>
          <a:p>
            <a:pPr algn="l">
              <a:lnSpc>
                <a:spcPts val="5861"/>
              </a:lnSpc>
            </a:pPr>
            <a:r>
              <a:rPr lang="en-US" sz="4186" b="true">
                <a:solidFill>
                  <a:srgbClr val="000000"/>
                </a:solidFill>
                <a:latin typeface="Canva Sans Bold"/>
                <a:ea typeface="Canva Sans Bold"/>
                <a:cs typeface="Canva Sans Bold"/>
                <a:sym typeface="Canva Sans Bold"/>
              </a:rPr>
              <a:t>The CSS Box Model is a fundamental concept that defines how elements are structured and spaced in a webpage. Every HTML element is treated as a rectangular box with four main parts:</a:t>
            </a:r>
          </a:p>
          <a:p>
            <a:pPr algn="l">
              <a:lnSpc>
                <a:spcPts val="5861"/>
              </a:lnSpc>
            </a:pPr>
            <a:r>
              <a:rPr lang="en-US" sz="4186">
                <a:solidFill>
                  <a:srgbClr val="000000"/>
                </a:solidFill>
                <a:latin typeface="Canva Sans"/>
                <a:ea typeface="Canva Sans"/>
                <a:cs typeface="Canva Sans"/>
                <a:sym typeface="Canva Sans"/>
              </a:rPr>
              <a:t>1.</a:t>
            </a:r>
            <a:r>
              <a:rPr lang="en-US" sz="4186" b="true">
                <a:solidFill>
                  <a:srgbClr val="000000"/>
                </a:solidFill>
                <a:latin typeface="Canva Sans Bold"/>
                <a:ea typeface="Canva Sans Bold"/>
                <a:cs typeface="Canva Sans Bold"/>
                <a:sym typeface="Canva Sans Bold"/>
              </a:rPr>
              <a:t> </a:t>
            </a:r>
            <a:r>
              <a:rPr lang="en-US" sz="4186" b="true">
                <a:solidFill>
                  <a:srgbClr val="000000"/>
                </a:solidFill>
                <a:latin typeface="Canva Sans Bold"/>
                <a:ea typeface="Canva Sans Bold"/>
                <a:cs typeface="Canva Sans Bold"/>
                <a:sym typeface="Canva Sans Bold"/>
              </a:rPr>
              <a:t>Content → The actual content inside the box (text, images, etc.)</a:t>
            </a:r>
          </a:p>
          <a:p>
            <a:pPr algn="l">
              <a:lnSpc>
                <a:spcPts val="5861"/>
              </a:lnSpc>
            </a:pPr>
            <a:r>
              <a:rPr lang="en-US" sz="4186">
                <a:solidFill>
                  <a:srgbClr val="000000"/>
                </a:solidFill>
                <a:latin typeface="Canva Sans"/>
                <a:ea typeface="Canva Sans"/>
                <a:cs typeface="Canva Sans"/>
                <a:sym typeface="Canva Sans"/>
              </a:rPr>
              <a:t>2.</a:t>
            </a:r>
            <a:r>
              <a:rPr lang="en-US" sz="4186" b="true">
                <a:solidFill>
                  <a:srgbClr val="000000"/>
                </a:solidFill>
                <a:latin typeface="Canva Sans Bold"/>
                <a:ea typeface="Canva Sans Bold"/>
                <a:cs typeface="Canva Sans Bold"/>
                <a:sym typeface="Canva Sans Bold"/>
              </a:rPr>
              <a:t> </a:t>
            </a:r>
            <a:r>
              <a:rPr lang="en-US" sz="4186" b="true">
                <a:solidFill>
                  <a:srgbClr val="000000"/>
                </a:solidFill>
                <a:latin typeface="Canva Sans Bold"/>
                <a:ea typeface="Canva Sans Bold"/>
                <a:cs typeface="Canva Sans Bold"/>
                <a:sym typeface="Canva Sans Bold"/>
              </a:rPr>
              <a:t>Padding → Space between content and the border</a:t>
            </a:r>
          </a:p>
          <a:p>
            <a:pPr algn="l">
              <a:lnSpc>
                <a:spcPts val="5861"/>
              </a:lnSpc>
            </a:pPr>
            <a:r>
              <a:rPr lang="en-US" sz="4186">
                <a:solidFill>
                  <a:srgbClr val="000000"/>
                </a:solidFill>
                <a:latin typeface="Canva Sans"/>
                <a:ea typeface="Canva Sans"/>
                <a:cs typeface="Canva Sans"/>
                <a:sym typeface="Canva Sans"/>
              </a:rPr>
              <a:t>3. </a:t>
            </a:r>
            <a:r>
              <a:rPr lang="en-US" sz="4186" b="true">
                <a:solidFill>
                  <a:srgbClr val="000000"/>
                </a:solidFill>
                <a:latin typeface="Canva Sans Bold"/>
                <a:ea typeface="Canva Sans Bold"/>
                <a:cs typeface="Canva Sans Bold"/>
                <a:sym typeface="Canva Sans Bold"/>
              </a:rPr>
              <a:t>Border → The boundary surrounding the padding and content</a:t>
            </a:r>
          </a:p>
          <a:p>
            <a:pPr algn="l">
              <a:lnSpc>
                <a:spcPts val="5861"/>
              </a:lnSpc>
            </a:pPr>
            <a:r>
              <a:rPr lang="en-US" sz="4186">
                <a:solidFill>
                  <a:srgbClr val="000000"/>
                </a:solidFill>
                <a:latin typeface="Canva Sans"/>
                <a:ea typeface="Canva Sans"/>
                <a:cs typeface="Canva Sans"/>
                <a:sym typeface="Canva Sans"/>
              </a:rPr>
              <a:t>4.</a:t>
            </a:r>
            <a:r>
              <a:rPr lang="en-US" sz="4186" b="true">
                <a:solidFill>
                  <a:srgbClr val="000000"/>
                </a:solidFill>
                <a:latin typeface="Canva Sans Bold"/>
                <a:ea typeface="Canva Sans Bold"/>
                <a:cs typeface="Canva Sans Bold"/>
                <a:sym typeface="Canva Sans Bold"/>
              </a:rPr>
              <a:t> </a:t>
            </a:r>
            <a:r>
              <a:rPr lang="en-US" sz="4186" b="true">
                <a:solidFill>
                  <a:srgbClr val="000000"/>
                </a:solidFill>
                <a:latin typeface="Canva Sans Bold"/>
                <a:ea typeface="Canva Sans Bold"/>
                <a:cs typeface="Canva Sans Bold"/>
                <a:sym typeface="Canva Sans Bold"/>
              </a:rPr>
              <a:t>Margin → Space outside the border, separating elements</a:t>
            </a:r>
          </a:p>
          <a:p>
            <a:pPr algn="l">
              <a:lnSpc>
                <a:spcPts val="5861"/>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6644408" y="386336"/>
            <a:ext cx="4706660"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CSS Transition</a:t>
            </a:r>
          </a:p>
        </p:txBody>
      </p:sp>
      <p:sp>
        <p:nvSpPr>
          <p:cNvPr name="TextBox 3" id="3"/>
          <p:cNvSpPr txBox="true"/>
          <p:nvPr/>
        </p:nvSpPr>
        <p:spPr>
          <a:xfrm rot="0">
            <a:off x="706936" y="2408555"/>
            <a:ext cx="14875207"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CSS transitions allow smooth animation effects when a property changes over time, instead of happening instantly.</a:t>
            </a:r>
          </a:p>
        </p:txBody>
      </p:sp>
      <p:sp>
        <p:nvSpPr>
          <p:cNvPr name="TextBox 4" id="4"/>
          <p:cNvSpPr txBox="true"/>
          <p:nvPr/>
        </p:nvSpPr>
        <p:spPr>
          <a:xfrm rot="0">
            <a:off x="706936" y="6033204"/>
            <a:ext cx="17042513"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selector {</a:t>
            </a:r>
          </a:p>
          <a:p>
            <a:pPr algn="l">
              <a:lnSpc>
                <a:spcPts val="7279"/>
              </a:lnSpc>
            </a:pPr>
            <a:r>
              <a:rPr lang="en-US" sz="5199" b="true">
                <a:solidFill>
                  <a:srgbClr val="000000"/>
                </a:solidFill>
                <a:latin typeface="Canva Sans Bold"/>
                <a:ea typeface="Canva Sans Bold"/>
                <a:cs typeface="Canva Sans Bold"/>
                <a:sym typeface="Canva Sans Bold"/>
              </a:rPr>
              <a:t> transition: property duration timing-function delay; </a:t>
            </a:r>
          </a:p>
          <a:p>
            <a:pPr algn="l">
              <a:lnSpc>
                <a:spcPts val="7279"/>
              </a:lnSpc>
            </a:pPr>
            <a:r>
              <a:rPr lang="en-US" sz="5199" b="true">
                <a:solidFill>
                  <a:srgbClr val="000000"/>
                </a:solidFill>
                <a:latin typeface="Canva Sans Bold"/>
                <a:ea typeface="Canva Sans Bold"/>
                <a:cs typeface="Canva Sans Bold"/>
                <a:sym typeface="Canva Sans Bold"/>
              </a:rPr>
              <a: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EF7D9"/>
        </a:solidFill>
      </p:bgPr>
    </p:bg>
    <p:spTree>
      <p:nvGrpSpPr>
        <p:cNvPr id="1" name=""/>
        <p:cNvGrpSpPr/>
        <p:nvPr/>
      </p:nvGrpSpPr>
      <p:grpSpPr>
        <a:xfrm>
          <a:off x="0" y="0"/>
          <a:ext cx="0" cy="0"/>
          <a:chOff x="0" y="0"/>
          <a:chExt cx="0" cy="0"/>
        </a:xfrm>
      </p:grpSpPr>
      <p:sp>
        <p:nvSpPr>
          <p:cNvPr name="TextBox 2" id="2"/>
          <p:cNvSpPr txBox="true"/>
          <p:nvPr/>
        </p:nvSpPr>
        <p:spPr>
          <a:xfrm rot="0">
            <a:off x="7657802" y="537527"/>
            <a:ext cx="297239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 CSS Grid</a:t>
            </a:r>
          </a:p>
        </p:txBody>
      </p:sp>
      <p:sp>
        <p:nvSpPr>
          <p:cNvPr name="TextBox 3" id="3"/>
          <p:cNvSpPr txBox="true"/>
          <p:nvPr/>
        </p:nvSpPr>
        <p:spPr>
          <a:xfrm rot="0">
            <a:off x="1194478" y="2492291"/>
            <a:ext cx="15045847" cy="1500758"/>
          </a:xfrm>
          <a:prstGeom prst="rect">
            <a:avLst/>
          </a:prstGeom>
        </p:spPr>
        <p:txBody>
          <a:bodyPr anchor="t" rtlCol="false" tIns="0" lIns="0" bIns="0" rIns="0">
            <a:spAutoFit/>
          </a:bodyPr>
          <a:lstStyle/>
          <a:p>
            <a:pPr algn="l">
              <a:lnSpc>
                <a:spcPts val="6006"/>
              </a:lnSpc>
            </a:pPr>
            <a:r>
              <a:rPr lang="en-US" sz="4290" b="true">
                <a:solidFill>
                  <a:srgbClr val="000000"/>
                </a:solidFill>
                <a:latin typeface="Canva Sans Bold"/>
                <a:ea typeface="Canva Sans Bold"/>
                <a:cs typeface="Canva Sans Bold"/>
                <a:sym typeface="Canva Sans Bold"/>
              </a:rPr>
              <a:t>CSS Grid Layout is a powerful way to create complex row &amp; column structures with less code than Flexbox.</a:t>
            </a:r>
          </a:p>
        </p:txBody>
      </p:sp>
      <p:sp>
        <p:nvSpPr>
          <p:cNvPr name="TextBox 4" id="4"/>
          <p:cNvSpPr txBox="true"/>
          <p:nvPr/>
        </p:nvSpPr>
        <p:spPr>
          <a:xfrm rot="0">
            <a:off x="1194478" y="4549492"/>
            <a:ext cx="10960702" cy="4223687"/>
          </a:xfrm>
          <a:prstGeom prst="rect">
            <a:avLst/>
          </a:prstGeom>
        </p:spPr>
        <p:txBody>
          <a:bodyPr anchor="t" rtlCol="false" tIns="0" lIns="0" bIns="0" rIns="0">
            <a:spAutoFit/>
          </a:bodyPr>
          <a:lstStyle/>
          <a:p>
            <a:pPr algn="l">
              <a:lnSpc>
                <a:spcPts val="5579"/>
              </a:lnSpc>
            </a:pPr>
            <a:r>
              <a:rPr lang="en-US" sz="3985" b="true">
                <a:solidFill>
                  <a:srgbClr val="000000"/>
                </a:solidFill>
                <a:latin typeface="Canva Sans Bold"/>
                <a:ea typeface="Canva Sans Bold"/>
                <a:cs typeface="Canva Sans Bold"/>
                <a:sym typeface="Canva Sans Bold"/>
              </a:rPr>
              <a:t>Basic Grid Structure</a:t>
            </a:r>
          </a:p>
          <a:p>
            <a:pPr algn="l">
              <a:lnSpc>
                <a:spcPts val="5579"/>
              </a:lnSpc>
            </a:pPr>
          </a:p>
          <a:p>
            <a:pPr algn="l">
              <a:lnSpc>
                <a:spcPts val="5579"/>
              </a:lnSpc>
            </a:pPr>
            <a:r>
              <a:rPr lang="en-US" sz="3985" b="true">
                <a:solidFill>
                  <a:srgbClr val="000000"/>
                </a:solidFill>
                <a:latin typeface="Canva Sans Bold"/>
                <a:ea typeface="Canva Sans Bold"/>
                <a:cs typeface="Canva Sans Bold"/>
                <a:sym typeface="Canva Sans Bold"/>
              </a:rPr>
              <a:t>✔ display: grid; → Enables grid layout</a:t>
            </a:r>
          </a:p>
          <a:p>
            <a:pPr algn="l">
              <a:lnSpc>
                <a:spcPts val="5579"/>
              </a:lnSpc>
            </a:pPr>
            <a:r>
              <a:rPr lang="en-US" sz="3985" b="true">
                <a:solidFill>
                  <a:srgbClr val="000000"/>
                </a:solidFill>
                <a:latin typeface="Canva Sans Bold"/>
                <a:ea typeface="Canva Sans Bold"/>
                <a:cs typeface="Canva Sans Bold"/>
                <a:sym typeface="Canva Sans Bold"/>
              </a:rPr>
              <a:t>✔ grid-template-columns → Defines columns</a:t>
            </a:r>
          </a:p>
          <a:p>
            <a:pPr algn="l">
              <a:lnSpc>
                <a:spcPts val="5579"/>
              </a:lnSpc>
            </a:pPr>
            <a:r>
              <a:rPr lang="en-US" sz="3985" b="true">
                <a:solidFill>
                  <a:srgbClr val="000000"/>
                </a:solidFill>
                <a:latin typeface="Canva Sans Bold"/>
                <a:ea typeface="Canva Sans Bold"/>
                <a:cs typeface="Canva Sans Bold"/>
                <a:sym typeface="Canva Sans Bold"/>
              </a:rPr>
              <a:t>✔ grid-template-rows → Defines rows</a:t>
            </a:r>
          </a:p>
          <a:p>
            <a:pPr algn="l">
              <a:lnSpc>
                <a:spcPts val="55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DAGelRwTf48</dc:identifier>
  <dcterms:modified xsi:type="dcterms:W3CDTF">2011-08-01T06:04:30Z</dcterms:modified>
  <cp:revision>1</cp:revision>
  <dc:title>Add a subheading</dc:title>
</cp:coreProperties>
</file>